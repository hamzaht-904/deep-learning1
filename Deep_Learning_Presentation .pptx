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960120"/>
            <a:ext cx="475488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C687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PRIMER  ·  FOUNDATIONS OF AI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91440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0" b="1" kern="0" spc="-100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Deep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91440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0" b="1" kern="0" spc="-100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Learning</a:t>
            </a:r>
            <a:endParaRPr lang="en-US" sz="9200" dirty="0"/>
          </a:p>
        </p:txBody>
      </p:sp>
      <p:sp>
        <p:nvSpPr>
          <p:cNvPr id="6" name="Shape 4"/>
          <p:cNvSpPr/>
          <p:nvPr/>
        </p:nvSpPr>
        <p:spPr>
          <a:xfrm>
            <a:off x="685800" y="4251960"/>
            <a:ext cx="3108960" cy="0"/>
          </a:xfrm>
          <a:prstGeom prst="line">
            <a:avLst/>
          </a:prstGeom>
          <a:noFill/>
          <a:ln w="19050">
            <a:solidFill>
              <a:srgbClr val="C687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4434840"/>
            <a:ext cx="6858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is, why it matters, and where it is taking us next.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047615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C97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Adarsh Kumar </a:t>
            </a:r>
            <a:endParaRPr lang="en-US" sz="1600" b="1" dirty="0">
              <a:solidFill>
                <a:srgbClr val="F7F4E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Keerthana .R </a:t>
            </a:r>
            <a:endParaRPr lang="en-US" sz="1600" b="1" dirty="0">
              <a:solidFill>
                <a:srgbClr val="F7F4E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Kailash Kumar .B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97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BCA (Hons.) AI &amp; Machine Learning  ·  Alliance University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960120"/>
            <a:ext cx="475488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C687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694944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Exactly Is</a:t>
            </a:r>
            <a:endParaRPr lang="en-US" sz="3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Deep Learning?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1097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C6870B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371600" y="2514600"/>
            <a:ext cx="64008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i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branch of Machine Learning that uses multi-layered neural networks — loosely inspired by the human brain — to learn patterns directly from data, without being explicitly programmed for every rule.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7132320" cy="0"/>
          </a:xfrm>
          <a:prstGeom prst="line">
            <a:avLst/>
          </a:prstGeom>
          <a:noFill/>
          <a:ln w="12700">
            <a:solidFill>
              <a:srgbClr val="DCD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66344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0749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Multiple Layers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" y="5413248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Input, hidden, and output layers process information step by step.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466344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54680" y="50749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Learns From Data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154680" y="5413248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improves automatically as more examples are provided.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466344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69280" y="50749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Powers Modern AI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669280" y="5413248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engine behind voice, vision, and language systems in use today.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 ·  A PRIMER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11064240" y="651052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960120"/>
            <a:ext cx="475488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C687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Learning Through Layers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680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C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neural network passes data forward through stacked layers, checks its answer, then adjusts every connection backward — repeating thousands of times until it learns.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154680" y="3909060"/>
            <a:ext cx="0" cy="274320"/>
          </a:xfrm>
          <a:prstGeom prst="line">
            <a:avLst/>
          </a:prstGeom>
          <a:noFill/>
          <a:ln w="12700">
            <a:solidFill>
              <a:srgbClr val="C6870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911242" y="4183380"/>
            <a:ext cx="0" cy="274320"/>
          </a:xfrm>
          <a:prstGeom prst="line">
            <a:avLst/>
          </a:prstGeom>
          <a:noFill/>
          <a:ln w="12700">
            <a:solidFill>
              <a:srgbClr val="C6870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667805" y="4457700"/>
            <a:ext cx="0" cy="274320"/>
          </a:xfrm>
          <a:prstGeom prst="line">
            <a:avLst/>
          </a:prstGeom>
          <a:noFill/>
          <a:ln w="12700">
            <a:solidFill>
              <a:srgbClr val="C6870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2331720" cy="2788920"/>
          </a:xfrm>
          <a:prstGeom prst="rect">
            <a:avLst/>
          </a:prstGeom>
          <a:solidFill>
            <a:srgbClr val="1E1D22"/>
          </a:solidFill>
          <a:ln w="12700">
            <a:solidFill>
              <a:srgbClr val="3A39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87552" y="265176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B04D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425196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Input Layer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7552" y="4709160"/>
            <a:ext cx="200253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97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data enters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97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(pixels, words, sound)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79522" y="2788920"/>
            <a:ext cx="2331720" cy="2788920"/>
          </a:xfrm>
          <a:prstGeom prst="rect">
            <a:avLst/>
          </a:prstGeom>
          <a:solidFill>
            <a:srgbClr val="1E1D22"/>
          </a:solidFill>
          <a:ln w="12700">
            <a:solidFill>
              <a:srgbClr val="3A39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4114" y="292608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B04D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4114" y="452628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Hidden Layer 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744114" y="4983480"/>
            <a:ext cx="200253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97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simple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97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low-level patterns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36085" y="3063240"/>
            <a:ext cx="2331720" cy="2788920"/>
          </a:xfrm>
          <a:prstGeom prst="rect">
            <a:avLst/>
          </a:prstGeom>
          <a:solidFill>
            <a:srgbClr val="1E1D22"/>
          </a:solidFill>
          <a:ln w="12700">
            <a:solidFill>
              <a:srgbClr val="3A39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00677" y="320040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B04D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00677" y="480060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Hidden Layer 2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00677" y="5257800"/>
            <a:ext cx="200253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97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patterns into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97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richer features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92647" y="3337560"/>
            <a:ext cx="2331720" cy="2788920"/>
          </a:xfrm>
          <a:prstGeom prst="rect">
            <a:avLst/>
          </a:prstGeom>
          <a:solidFill>
            <a:srgbClr val="C6870B"/>
          </a:solidFill>
          <a:ln w="12700">
            <a:solidFill>
              <a:srgbClr val="C687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57239" y="347472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0B0C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57239" y="507492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0B0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Output Layer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57239" y="5532120"/>
            <a:ext cx="200253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2E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Produces the final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A2E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9C97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 ·  A PRIMER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064240" y="651052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97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960120"/>
            <a:ext cx="475488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C687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It Matters Now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6949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software runs on fixed, human-written rules. Deep learning writes its own rules from data — unlocking problems too complex to hand-code.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881360" cy="0"/>
          </a:xfrm>
          <a:prstGeom prst="line">
            <a:avLst/>
          </a:prstGeom>
          <a:noFill/>
          <a:ln w="9525">
            <a:solidFill>
              <a:srgbClr val="DCD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441448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870B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37360" y="2478024"/>
            <a:ext cx="3566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Handles unstructured data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486400" y="2478024"/>
            <a:ext cx="6035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Makes sense of images, audio, video, and free-form text — data older algorithms struggled with.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27832"/>
            <a:ext cx="10881360" cy="0"/>
          </a:xfrm>
          <a:prstGeom prst="line">
            <a:avLst/>
          </a:prstGeom>
          <a:noFill/>
          <a:ln w="9525">
            <a:solidFill>
              <a:srgbClr val="DCD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870B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37360" y="3374136"/>
            <a:ext cx="3566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Drives automation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486400" y="3374136"/>
            <a:ext cx="6035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Powers self-driving cars, fraud detection, and industrial robotics with minimal human input.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23944"/>
            <a:ext cx="10881360" cy="0"/>
          </a:xfrm>
          <a:prstGeom prst="line">
            <a:avLst/>
          </a:prstGeom>
          <a:noFill/>
          <a:ln w="9525">
            <a:solidFill>
              <a:srgbClr val="DCD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4233672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870B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37360" y="4270248"/>
            <a:ext cx="3566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Improves with scale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486400" y="4270248"/>
            <a:ext cx="6035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keeps rising as more data and computing power become available.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020056"/>
            <a:ext cx="10881360" cy="0"/>
          </a:xfrm>
          <a:prstGeom prst="line">
            <a:avLst/>
          </a:prstGeom>
          <a:noFill/>
          <a:ln w="9525">
            <a:solidFill>
              <a:srgbClr val="DCD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5129784"/>
            <a:ext cx="914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870B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37360" y="5166360"/>
            <a:ext cx="3566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Transforms every industry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486400" y="5166360"/>
            <a:ext cx="6035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healthcare diagnostics to agriculture and finance, it reshapes how problems get solved.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916168"/>
            <a:ext cx="10881360" cy="0"/>
          </a:xfrm>
          <a:prstGeom prst="line">
            <a:avLst/>
          </a:prstGeom>
          <a:noFill/>
          <a:ln w="9525">
            <a:solidFill>
              <a:srgbClr val="DCD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 ·  A PRIMER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960120"/>
            <a:ext cx="475488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C687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EVERYDAY EXAMPLES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Deep Learning in Your Pocket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moments where it quietly runs in the background of daily life.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2064" y="2468880"/>
            <a:ext cx="0" cy="3383280"/>
          </a:xfrm>
          <a:prstGeom prst="line">
            <a:avLst/>
          </a:prstGeom>
          <a:noFill/>
          <a:ln w="9525">
            <a:solidFill>
              <a:srgbClr val="2B2A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60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4612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Face Unlock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25146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5B1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Smartphones map facial features and verify identity in a fraction of a second.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74136" y="2468880"/>
            <a:ext cx="0" cy="0"/>
          </a:xfrm>
          <a:prstGeom prst="line">
            <a:avLst/>
          </a:prstGeom>
          <a:noFill/>
          <a:ln w="9525">
            <a:solidFill>
              <a:srgbClr val="2B2A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374136" y="2468880"/>
            <a:ext cx="0" cy="3383280"/>
          </a:xfrm>
          <a:prstGeom prst="line">
            <a:avLst/>
          </a:prstGeom>
          <a:noFill/>
          <a:ln w="9525">
            <a:solidFill>
              <a:srgbClr val="2B2A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25603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2152" y="324612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Voice Assistants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02152" y="3840480"/>
            <a:ext cx="25146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5B1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Siri, Alexa, and Google Assistant convert speech to text and grasp intent.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36208" y="2468880"/>
            <a:ext cx="0" cy="0"/>
          </a:xfrm>
          <a:prstGeom prst="line">
            <a:avLst/>
          </a:prstGeom>
          <a:noFill/>
          <a:ln w="9525">
            <a:solidFill>
              <a:srgbClr val="2B2A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236208" y="2468880"/>
            <a:ext cx="0" cy="3383280"/>
          </a:xfrm>
          <a:prstGeom prst="line">
            <a:avLst/>
          </a:prstGeom>
          <a:noFill/>
          <a:ln w="9525">
            <a:solidFill>
              <a:srgbClr val="2B2A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5603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64224" y="324612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64224" y="3840480"/>
            <a:ext cx="25146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5B1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Netflix and YouTube predict what you’ll watch next from viewing patterns.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98280" y="2468880"/>
            <a:ext cx="0" cy="0"/>
          </a:xfrm>
          <a:prstGeom prst="line">
            <a:avLst/>
          </a:prstGeom>
          <a:noFill/>
          <a:ln w="9525">
            <a:solidFill>
              <a:srgbClr val="2B2A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9098280" y="2468880"/>
            <a:ext cx="0" cy="3383280"/>
          </a:xfrm>
          <a:prstGeom prst="line">
            <a:avLst/>
          </a:prstGeom>
          <a:noFill/>
          <a:ln w="9525">
            <a:solidFill>
              <a:srgbClr val="2B2A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296" y="256032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26296" y="324612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Spam Filtering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26296" y="3840480"/>
            <a:ext cx="25146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5B1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Gmail separates junk from genuine mail by learning what spam looks like.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9C97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 ·  A PRIMER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1064240" y="651052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97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960120"/>
            <a:ext cx="475488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C687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EVERYDAY EXAMPLES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...And Beyond the Phone Screen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0"/>
          </a:xfrm>
          <a:prstGeom prst="line">
            <a:avLst/>
          </a:prstGeom>
          <a:noFill/>
          <a:ln w="9525">
            <a:solidFill>
              <a:srgbClr val="DCD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8483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11680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Self-Driving Cars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892040" y="2011680"/>
            <a:ext cx="6629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Vehicles identify lanes, pedestrians, and obstacles from live camera feeds in real time.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10881360" cy="0"/>
          </a:xfrm>
          <a:prstGeom prst="line">
            <a:avLst/>
          </a:prstGeom>
          <a:noFill/>
          <a:ln w="9525">
            <a:solidFill>
              <a:srgbClr val="DCD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3639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063240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Medical Diagnosis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92040" y="3063240"/>
            <a:ext cx="6629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detect tumors in scans, often matching the accuracy of trained specialists.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931920"/>
            <a:ext cx="10881360" cy="0"/>
          </a:xfrm>
          <a:prstGeom prst="line">
            <a:avLst/>
          </a:prstGeom>
          <a:noFill/>
          <a:ln w="9525">
            <a:solidFill>
              <a:srgbClr val="DCD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8795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14800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Language Translation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892040" y="4114800"/>
            <a:ext cx="6629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like Google Translate convert text between languages while preserving meaning.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983480"/>
            <a:ext cx="10881360" cy="0"/>
          </a:xfrm>
          <a:prstGeom prst="line">
            <a:avLst/>
          </a:prstGeom>
          <a:noFill/>
          <a:ln w="9525">
            <a:solidFill>
              <a:srgbClr val="DCD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23951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166360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Chatbots &amp; Assistants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892040" y="5166360"/>
            <a:ext cx="6629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Customer-support tools generate natural, context-aware conversational replies.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6035040"/>
            <a:ext cx="10881360" cy="0"/>
          </a:xfrm>
          <a:prstGeom prst="line">
            <a:avLst/>
          </a:prstGeom>
          <a:noFill/>
          <a:ln w="9525">
            <a:solidFill>
              <a:srgbClr val="DCD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 ·  A PRIMER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11064240" y="651052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960120"/>
            <a:ext cx="475488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C687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It Wins on Hard Problems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486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4B04D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Accurate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5212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Often outperforms traditional algorithms on complex tasks like image and speech recognition.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26480" y="3081528"/>
            <a:ext cx="5486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4B04D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Automatic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126480" y="3858768"/>
            <a:ext cx="5212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the important patterns in data on its own — no manual feature engineering required.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197096"/>
            <a:ext cx="5486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4B04D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Scalable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4974336"/>
            <a:ext cx="5212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keeps improving as more training data and computing power are added.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26480" y="5312664"/>
            <a:ext cx="5486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4B04D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Adaptive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26480" y="6089904"/>
            <a:ext cx="5212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core techniques apply across vision, language, audio, and beyond.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9C97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 ·  A PRIMER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064240" y="651052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97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960120"/>
            <a:ext cx="475488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C687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This Is Headed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and adoption are accelerating together — four directions stand out for the years ahead.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737360" y="3977640"/>
            <a:ext cx="8229600" cy="0"/>
          </a:xfrm>
          <a:prstGeom prst="line">
            <a:avLst/>
          </a:prstGeom>
          <a:noFill/>
          <a:ln w="15875">
            <a:solidFill>
              <a:srgbClr val="2B2A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673352" y="3913632"/>
            <a:ext cx="128016" cy="128016"/>
          </a:xfrm>
          <a:prstGeom prst="ellipse">
            <a:avLst/>
          </a:prstGeom>
          <a:solidFill>
            <a:srgbClr val="C6870B"/>
          </a:solidFill>
          <a:ln w="1905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737360" y="3703320"/>
            <a:ext cx="0" cy="274320"/>
          </a:xfrm>
          <a:prstGeom prst="line">
            <a:avLst/>
          </a:prstGeom>
          <a:noFill/>
          <a:ln w="12700">
            <a:solidFill>
              <a:srgbClr val="2B2A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B04D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Generative AI Everywhere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B5B1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that write, design, and code become standard parts of everyday work.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16552" y="3913632"/>
            <a:ext cx="128016" cy="128016"/>
          </a:xfrm>
          <a:prstGeom prst="ellipse">
            <a:avLst/>
          </a:prstGeom>
          <a:solidFill>
            <a:srgbClr val="C6870B"/>
          </a:solidFill>
          <a:ln w="1905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80560" y="3977640"/>
            <a:ext cx="0" cy="274320"/>
          </a:xfrm>
          <a:prstGeom prst="line">
            <a:avLst/>
          </a:prstGeom>
          <a:noFill/>
          <a:ln w="12700">
            <a:solidFill>
              <a:srgbClr val="2B2A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46120" y="4361688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B04D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466344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Smarter Healthcare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5148072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B5B1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Earlier disease detection and treatment plans built on patient-specific data.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59752" y="3913632"/>
            <a:ext cx="128016" cy="128016"/>
          </a:xfrm>
          <a:prstGeom prst="ellipse">
            <a:avLst/>
          </a:prstGeom>
          <a:solidFill>
            <a:srgbClr val="C6870B"/>
          </a:solidFill>
          <a:ln w="1905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223760" y="3703320"/>
            <a:ext cx="0" cy="274320"/>
          </a:xfrm>
          <a:prstGeom prst="line">
            <a:avLst/>
          </a:prstGeom>
          <a:noFill/>
          <a:ln w="12700">
            <a:solidFill>
              <a:srgbClr val="2B2A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89320" y="2286000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B04D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89320" y="260604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Edge &amp; On-Device 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89320" y="310896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B5B1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run directly on phones and sensors — faster, and more private.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902952" y="3913632"/>
            <a:ext cx="128016" cy="128016"/>
          </a:xfrm>
          <a:prstGeom prst="ellipse">
            <a:avLst/>
          </a:prstGeom>
          <a:solidFill>
            <a:srgbClr val="C6870B"/>
          </a:solidFill>
          <a:ln w="1905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966960" y="3977640"/>
            <a:ext cx="0" cy="274320"/>
          </a:xfrm>
          <a:prstGeom prst="line">
            <a:avLst/>
          </a:prstGeom>
          <a:noFill/>
          <a:ln w="12700">
            <a:solidFill>
              <a:srgbClr val="2B2A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732520" y="4361688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B04D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32520" y="466344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4E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Fully Autonomous Systems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32520" y="5148072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B5B1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Vehicles, drones, and robots operating with minimal human supervision.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9C97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 ·  A PRIMER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064240" y="651052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97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960120"/>
            <a:ext cx="475488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C687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C6870B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“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941832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Deep learning has moved from a research idea to the engine behind everyday technology — from unlocking a phone to diagnosing disease. It learns directly from data instead of fixed rules, which makes it powerful, but data-hungry and resource-intensive. As computing power grows, its role in daily life will only expand.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10881360" cy="0"/>
          </a:xfrm>
          <a:prstGeom prst="line">
            <a:avLst/>
          </a:prstGeom>
          <a:noFill/>
          <a:ln w="12700">
            <a:solidFill>
              <a:srgbClr val="DCD5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5204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352044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1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References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34440" y="4160520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Goodfellow, I., Bengio, Y., &amp; Courville, A. (2016). Deep Learning. MIT Press.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34440" y="4562856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IBM. "What is Deep Learning?" ibm.com/topics/deep-learning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34440" y="4965192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AI. "Introduction to Deep Learning." ai.google/education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34440" y="5367528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Nielsen, M. (2015). Neural Networks and Deep Learning. neuralnetworksanddeeplearning.com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 ·  A PRIMER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064240" y="6510528"/>
            <a:ext cx="502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2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4392</Words>
  <Application>WPS Presentation</Application>
  <PresentationFormat>Widescreen</PresentationFormat>
  <Paragraphs>241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Bookman Old Style</vt:lpstr>
      <vt:lpstr>Bookman Old Style</vt:lpstr>
      <vt:lpstr>Bookman Old Style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Keerthana.R</cp:lastModifiedBy>
  <cp:revision>4</cp:revision>
  <dcterms:created xsi:type="dcterms:W3CDTF">2026-08-07T08:40:00Z</dcterms:created>
  <dcterms:modified xsi:type="dcterms:W3CDTF">2026-08-08T06:19:56Z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E34AA991634740EBAB3AE2C84E36E9CA_12</vt:lpwstr>
  </property>
  <property fmtid="{D5CDD505-2E9C-101B-9397-08002B2CF9AE}" pid="3" name="KSOProductBuildVer">
    <vt:lpwstr>2057-12.2.0.23206</vt:lpwstr>
  </property>
</Properties>
</file>